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D"/>
          </a:solidFill>
          <a:ln>
            <a:solidFill>
              <a:srgbClr val="09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29600" y="-1371600"/>
            <a:ext cx="5486400" cy="5486400"/>
          </a:xfrm>
          <a:prstGeom prst="ellipse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3601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5400" b="1">
                <a:solidFill>
                  <a:srgbClr val="10B981"/>
                </a:solidFill>
                <a:latin typeface="Georgia"/>
              </a:defRPr>
            </a:pPr>
            <a:r>
              <a:t>TRISHASTIK BHARAT</a:t>
            </a:r>
          </a:p>
          <a:p>
            <a:pPr>
              <a:spcAft>
                <a:spcPts val="18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Sustainable Direct AgriTech &amp; Circular Farming Ecosystem</a:t>
            </a:r>
          </a:p>
          <a:p>
            <a:pPr>
              <a:defRPr sz="1400">
                <a:solidFill>
                  <a:srgbClr val="E2E8F0"/>
                </a:solidFill>
                <a:latin typeface="Arial"/>
              </a:defRPr>
            </a:pPr>
            <a:r>
              <a:t>Empowering Farmers through Disintermediated Organic Markets, Shared Rentals,</a:t>
            </a:r>
            <a:br/>
            <a:r>
              <a:t>Direct-to-Mill Inputs, Monitored Soil Testing, and Auto-Routed Logistics.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4297680"/>
            <a:ext cx="4572000" cy="36576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9144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IIT BHU (Varanasi) | Project Presentation</a:t>
            </a:r>
          </a:p>
          <a:p>
            <a:pPr>
              <a:defRPr sz="1100">
                <a:solidFill>
                  <a:srgbClr val="34D399"/>
                </a:solidFill>
                <a:latin typeface="Arial"/>
              </a:defRPr>
            </a:pPr>
            <a:r>
              <a:t>Designed to Optimize Agricultural Value Chains &amp; Eliminate Middlemen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D"/>
          </a:solidFill>
          <a:ln>
            <a:solidFill>
              <a:srgbClr val="09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The Agrarian Crisis &amp; Trishastik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8163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0B981"/>
                </a:solidFill>
                <a:latin typeface="Arial"/>
              </a:defRPr>
            </a:pPr>
            <a:r>
              <a:t>Trishastik Bharat | IIT BHU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0817352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Presentation on Trishastik Bharat AgriTech Platform | Solving Core Agricultural Inefficiencies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F59E0B"/>
                </a:solidFill>
                <a:latin typeface="Arial"/>
              </a:defRPr>
            </a:pPr>
            <a:r>
              <a:t>Core Structural Inefficiencies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Exploitative Middlemen: Intermediaries capture massive margins, leaving farmers with low payouts and high debt.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Chemical Monopoly: Online agricultural stores focus exclusively on chemicals; direct organic inputs are hard to procure.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Unmonitored Testing: Free government labs exist but have zero operational monitoring or tracking, creating long delays.</a:t>
            </a:r>
          </a:p>
          <a:p>
            <a:pPr>
              <a:spcAft>
                <a:spcPts val="1000"/>
              </a:spcAft>
              <a:defRPr sz="1200">
                <a:solidFill>
                  <a:srgbClr val="E2E8F0"/>
                </a:solidFill>
                <a:latin typeface="Arial"/>
              </a:defRPr>
            </a:pPr>
            <a:r>
              <a:t>• Prohibitive CapEx: Smallholder farmers cannot afford to purchase tractors and heavy machinery, limiting mechanization.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691640"/>
            <a:ext cx="5120640" cy="438912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Trishastik Bharat: The Solution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Direct-to-Buyer Market: Bypasses intermediate brokers to trade organic produce directly at fair market rates.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Mill-to-Farm Sourcing: Direct online access to organic waste byproducts (press mud, compost) from sugar and paper mills.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Monitored Soil Health: Portal tracks soil agents and city labs in real-time, enforcing accountability for fast testing.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P2P Equipment Rentals: Access to shared machinery on demand, turning major capital costs into cheap operating expenses.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D"/>
          </a:solidFill>
          <a:ln>
            <a:solidFill>
              <a:srgbClr val="09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Direct Organic Trading: Bypassing the Middlemen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8163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0B981"/>
                </a:solidFill>
                <a:latin typeface="Arial"/>
              </a:defRPr>
            </a:pPr>
            <a:r>
              <a:t>Trishastik Bharat | IIT BHU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0817352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Presentation on Trishastik Bharat AgriTech Platform | Solving Core Agricultural Inefficiencies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5120640" cy="438912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Traditional Route (Exploitative)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High Broker Cuts: Middlemen capture 25%+ of crop market value.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Concrete Example (Wheat Pricing):</a:t>
            </a:r>
            <a:br/>
            <a:r>
              <a:t>  - Government MSP Rate:  ₹2,685 / Quintal</a:t>
            </a:r>
            <a:br/>
            <a:r>
              <a:t>  - Middleman Buying Rate: ₹2,000 / Quintal</a:t>
            </a:r>
            <a:br/>
            <a:r>
              <a:t>  - Direct Loss to Farmer:  ₹685 / Quintal (Over 25% stolen!)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Payment Delays: Farmers wait weeks for cash, leading to debt.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Lack of Transparency: Weight manipulation and zero price control.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691640"/>
            <a:ext cx="5120640" cy="438912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Trishastik Direct Route (Fair &amp; Transparent)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Direct-to-Buyer Contracts: Connects farmers straight to certified organic buyers, food companies, and retailers.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Full Payout Preservation:</a:t>
            </a:r>
            <a:br/>
            <a:r>
              <a:t>  - Farmer gets the actual market value (e.g. ₹2,685+ for wheat).</a:t>
            </a:r>
            <a:br/>
            <a:r>
              <a:t>  - Escrow payments hold buyer funds and release them instantly.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No Commission Pockets: Zero middleman margins. 100% of fair value reaches the agricultural producer.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Quality Premium: Farmers earn higher premiums for verified organic crops certified via our portal.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D"/>
          </a:solidFill>
          <a:ln>
            <a:solidFill>
              <a:srgbClr val="09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Equipment Portal: Pay-Per-Use Rentals &amp; Buying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8163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0B981"/>
                </a:solidFill>
                <a:latin typeface="Arial"/>
              </a:defRPr>
            </a:pPr>
            <a:r>
              <a:t>Trishastik Bharat | IIT BHU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0817352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Presentation on Trishastik Bharat AgriTech Platform | Solving Core Agricultural Inefficiencies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5120640" cy="438912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1. Peer-to-Peer Rental Network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Affordable Mechanization: Farmers rent tractors, seeders, and harvesters by the hour rather than buying them.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Up to 80% Cost Reduction: Converts crushing capital expenditures (CapEx) into flexible, low operational costs (OpEx).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Monetize Idle Machinery: Farmers owning equipment can list it for rent, generating secondary income streams.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Geospatial Search: Finds the nearest available equipment using Leaflet-mapped farm listings.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691640"/>
            <a:ext cx="5120640" cy="438912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2. Direct Portal Equipment Sales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Zero Dealer Markups: Partners directly with manufacturing brands to sell new machinery and tools online.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Transparent Factory Prices: Cuts out heavy regional distributor fees and retail commissions.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Integrated Quality Assurance: Only certified, high-performance machinery is permitted to list.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Micro-Financing Access: Integrates cooperative bank loans directly on the purchase checkout screen.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D"/>
          </a:solidFill>
          <a:ln>
            <a:solidFill>
              <a:srgbClr val="09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Mill-to-Farm Organic Fertilizers: Sourced Direct from Mills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8163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0B981"/>
                </a:solidFill>
                <a:latin typeface="Arial"/>
              </a:defRPr>
            </a:pPr>
            <a:r>
              <a:t>Trishastik Bharat | IIT BHU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0817352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Presentation on Trishastik Bharat AgriTech Platform | Solving Core Agricultural Inefficiencies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331720" cy="384048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5486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19659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1. Sourcing from Mills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Partner directly with local sugar, paper, and food mills.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Source nutrient-rich byproducts like press mud and spent wash compost.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63240" y="3566160"/>
            <a:ext cx="365760" cy="274320"/>
          </a:xfrm>
          <a:prstGeom prst="rightArrow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2331720" cy="384048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965960"/>
            <a:ext cx="5486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23160"/>
            <a:ext cx="19659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2. Portal Integration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Mills list organic inputs in bulk directly on Trishastik.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Solves the online chemical monopoly; lists factory-certified organic compost.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52160" y="3566160"/>
            <a:ext cx="365760" cy="274320"/>
          </a:xfrm>
          <a:prstGeom prst="rightArrow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828800"/>
            <a:ext cx="2331720" cy="384048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5486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23160"/>
            <a:ext cx="19659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3. Direct Purchase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Farmers buy fertilizers directly from mills at bulk factory rates.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Bypasses standard wholesale fertilizer dealers.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41080" y="3566160"/>
            <a:ext cx="365760" cy="274320"/>
          </a:xfrm>
          <a:prstGeom prst="right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52560" y="1828800"/>
            <a:ext cx="2331720" cy="384048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965960"/>
            <a:ext cx="5486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423160"/>
            <a:ext cx="19659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4. Farm Delivery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Auto-dispatched logistics deliver bulk orders straight to the farm grid.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Lowers overall input costs while restoring soil health.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D"/>
          </a:solidFill>
          <a:ln>
            <a:solidFill>
              <a:srgbClr val="09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Monitored Soil Diagnostics: Bridging the Accountability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8163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0B981"/>
                </a:solidFill>
                <a:latin typeface="Arial"/>
              </a:defRPr>
            </a:pPr>
            <a:r>
              <a:t>Trishastik Bharat | IIT BHU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0817352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Presentation on Trishastik Bharat AgriTech Platform | Solving Core Agricultural Inefficiencies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331720" cy="384048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5486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19659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1. Portal Request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Farmer requests test, pins GPS coordinates on Leaflet Map.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Saves planned crop targets and history to user profile.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63240" y="3566160"/>
            <a:ext cx="365760" cy="274320"/>
          </a:xfrm>
          <a:prstGeom prst="rightArrow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2331720" cy="384048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965960"/>
            <a:ext cx="5486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23160"/>
            <a:ext cx="19659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2. Agent Dispatch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System tracks assigned field agents for that area.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Audits agent response time to ensure samples are collected.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52160" y="3566160"/>
            <a:ext cx="365760" cy="274320"/>
          </a:xfrm>
          <a:prstGeom prst="rightArrow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828800"/>
            <a:ext cx="2331720" cy="384048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5486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23160"/>
            <a:ext cx="19659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3. Lab Test Upload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Free government city labs test soil chemical structure.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Parsed chemical metrics and raw PDF are uploaded to portal.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41080" y="3566160"/>
            <a:ext cx="365760" cy="274320"/>
          </a:xfrm>
          <a:prstGeom prst="right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52560" y="1828800"/>
            <a:ext cx="2331720" cy="384048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965960"/>
            <a:ext cx="5486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423160"/>
            <a:ext cx="19659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4. Grok AI Diagnostics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AI engine evaluates N-P-K and pH levels.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Pushes customized organic fertilizer dosage to farmer dashboard.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D"/>
          </a:solidFill>
          <a:ln>
            <a:solidFill>
              <a:srgbClr val="09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Marketplace Model: Farmers as Retail Sellers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8163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0B981"/>
                </a:solidFill>
                <a:latin typeface="Arial"/>
              </a:defRPr>
            </a:pPr>
            <a:r>
              <a:t>Trishastik Bharat | IIT BHU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0817352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Presentation on Trishastik Bharat AgriTech Platform | Solving Core Agricultural Inefficiencies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3291840" cy="438912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1. Storefront Creation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Easy Onboarding: Farmers switch their dashboard profile to 'Seller' in one click.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Listing Control: List organic wheat, rice, pulses, and vegetables with photos and descriptions.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Autonomous Pricing: Farmers set their own prices based on quality, bypassing forced broker rates.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91640"/>
            <a:ext cx="3291840" cy="438912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7452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2. Consumer Purchase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Direct Ordering: Consumers and local retailers browse verified organic products.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Distance Filters: Lists crops based on closeness to buyer to minimize freight costs.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Zero Middleman Inflation: End-users get fresh, chemical-free food at direct prices.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691640"/>
            <a:ext cx="3291840" cy="438912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87452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3. Quality Assurance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Traceability Badges: Products linked directly to soil test records receive premium 'Soil-Certified' tags.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Consumer Reviews: Buyers rate produce quality, establishing seller reputation.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Escrow Security: Payments held until buyer confirms receipt of produce.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D"/>
          </a:solidFill>
          <a:ln>
            <a:solidFill>
              <a:srgbClr val="09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Smart Logistics: Automated Least-Cost Route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8163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0B981"/>
                </a:solidFill>
                <a:latin typeface="Arial"/>
              </a:defRPr>
            </a:pPr>
            <a:r>
              <a:t>Trishastik Bharat | IIT BHU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0817352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Presentation on Trishastik Bharat AgriTech Platform | Solving Core Agricultural Inefficiencies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331720" cy="384048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5486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23160"/>
            <a:ext cx="19659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1. Order &amp; Accept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User purchases organic crop or mill fertilizer.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Seller accepts order, triggering a transport request.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063240" y="3566160"/>
            <a:ext cx="365760" cy="274320"/>
          </a:xfrm>
          <a:prstGeom prst="rightArrow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1828800"/>
            <a:ext cx="2331720" cy="384048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965960"/>
            <a:ext cx="5486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34D399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423160"/>
            <a:ext cx="19659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2. Automated Routing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Logistics engine calculates route between seller and buyer.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Determines distance, traffic grids, and transport load class.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52160" y="3566160"/>
            <a:ext cx="365760" cy="274320"/>
          </a:xfrm>
          <a:prstGeom prst="rightArrow">
            <a:avLst/>
          </a:prstGeom>
          <a:solidFill>
            <a:srgbClr val="34D399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1828800"/>
            <a:ext cx="2331720" cy="384048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965960"/>
            <a:ext cx="5486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FFFFF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423160"/>
            <a:ext cx="19659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3. Least-Cost Matching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System queries regional transporter rates on that specific route.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Auto-assigns the job to the transporter bidding the lowest price.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41080" y="3566160"/>
            <a:ext cx="365760" cy="274320"/>
          </a:xfrm>
          <a:prstGeom prst="rightArrow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052560" y="1828800"/>
            <a:ext cx="2331720" cy="384048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5440" y="1965960"/>
            <a:ext cx="548640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2423160"/>
            <a:ext cx="19659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4. Tracked Delivery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Transporter collects shipment using matched vehicle (motorcycle to truck).</a:t>
            </a:r>
          </a:p>
          <a:p>
            <a:pPr>
              <a:spcAft>
                <a:spcPts val="400"/>
              </a:spcAft>
              <a:defRPr sz="950">
                <a:solidFill>
                  <a:srgbClr val="E2E8F0"/>
                </a:solidFill>
                <a:latin typeface="Arial"/>
              </a:defRPr>
            </a:pPr>
            <a:r>
              <a:t>• Updates GPS coordinate markers on Leaflet Maps in real-time.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D"/>
          </a:solidFill>
          <a:ln>
            <a:solidFill>
              <a:srgbClr val="09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Ecosystem Revenue Model: Sustainable &amp; Scalable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8163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0B981"/>
                </a:solidFill>
                <a:latin typeface="Arial"/>
              </a:defRPr>
            </a:pPr>
            <a:r>
              <a:t>Trishastik Bharat | IIT BHU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0817352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Presentation on Trishastik Bharat AgriTech Platform | Solving Core Agricultural Inefficiencies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2468880" cy="438912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1. Consumer Trade Cut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Flat 3% Commission: Levied on successful direct-to-buyer transactions for organic crops.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Paid by Buyer: Subsidizes platform operations without eating into farmer profits.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Secure Escrow: Automates payouts via integrated payment gateways.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691640"/>
            <a:ext cx="2468880" cy="438912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94176" y="187452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2. Mill Fertilizer Margin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Sourcing Margins: Split delivery margins on bulk industrial organic byproduct contracts.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Volume Discounts: Sells at massive volumes to farmer cooperatives, creating high cash flow.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Mill Referral Fees: Direct advertising margins paid by partnered mills.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691640"/>
            <a:ext cx="2468880" cy="438912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87452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3. Equipment Rental fee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5% P2P Service Fee: Charged on peer-to-peer machinery rentals.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Platform Insurance: Part of the fee funds primary equipment damage micro-insurance.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Transaction Value: Generates revenue from idle resources without inventory costs.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25128" y="1691640"/>
            <a:ext cx="2468880" cy="438912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53728" y="1874520"/>
            <a:ext cx="201168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59E0B"/>
                </a:solidFill>
                <a:latin typeface="Arial"/>
              </a:defRPr>
            </a:pPr>
            <a:r>
              <a:t>4. OEM Lead Fees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Brand Partnerships: Referral fees paid by tractor and machinery manufacturers (OEMs) for leads.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Sponsored Listing Ads: Manufacturers pay to feature new machinery on the shopping portal.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Bulk Buying Tenders: platform aggregates demand to secure lower OEM prices.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D"/>
          </a:solidFill>
          <a:ln>
            <a:solidFill>
              <a:srgbClr val="09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Technology Stack &amp; Core System 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8163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0B981"/>
                </a:solidFill>
                <a:latin typeface="Arial"/>
              </a:defRPr>
            </a:pPr>
            <a:r>
              <a:t>Trishastik Bharat | IIT BHU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0817352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Presentation on Trishastik Bharat AgriTech Platform | Solving Core Agricultural Inefficiencies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5120640" cy="438912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Frontend Interface (Client)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React.js (Vite): Optimized component-based UI offering fast rendering cycles.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Interactive Leaflet GIS: Real-time map overlays displaying farm boundaries, testing labs, and live transporter routes.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Tailored Visual CSS: High-contrast responsive design optimized for rural mobile web viewports.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Localized Language Interceptor: Translates Hinglish queries (e.g. 'ganna beej') to standard keywords to aid navigation.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691640"/>
            <a:ext cx="5120640" cy="438912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Backend &amp; System Integrations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Node.js &amp; Express.js: Event-driven API server handling high concurrent requests asynchronously.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Passport.js Auth: Standardized session-based user authentication and security.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Grok AI (X.AI API): Processes raw N-P-K &amp; pH soil data using custom agronomic templates to generate suggestions.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Cloudinary &amp; Resend: Secure report hosting (PDFs) and direct email alerts/OTP codes.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D"/>
          </a:solidFill>
          <a:ln>
            <a:solidFill>
              <a:srgbClr val="09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Data Architecture, Caching &amp; System Resilience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8163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0B981"/>
                </a:solidFill>
                <a:latin typeface="Arial"/>
              </a:defRPr>
            </a:pPr>
            <a:r>
              <a:t>Trishastik Bharat | IIT BHU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0817352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Presentation on Trishastik Bharat AgriTech Platform | Solving Core Agricultural Inefficiencies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3291840" cy="438912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1. Database Layer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MongoDB Atlas: Cloud document store mapping highly nested schemas.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Dedicated Collections:</a:t>
            </a:r>
            <a:br/>
            <a:r>
              <a:t>  - User (Roles, Pins)</a:t>
            </a:r>
            <a:br/>
            <a:r>
              <a:t>  - Listing (Produce, Rent)</a:t>
            </a:r>
            <a:br/>
            <a:r>
              <a:t>  - Order (Transporter details)</a:t>
            </a:r>
            <a:br/>
            <a:r>
              <a:t>  - SoilTest (Coordinates, Lab results, Grok advice)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691640"/>
            <a:ext cx="3291840" cy="438912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87452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34D399"/>
                </a:solidFill>
                <a:latin typeface="Arial"/>
              </a:defRPr>
            </a:pPr>
            <a:r>
              <a:t>2. Caching Engine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Redis (ioredis): Fast in-memory cache layer deployed locally in the cluster.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OTP Expirations: Enforces short TTL limits for user registrations.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Search Optimization: Caches heavy database queries for search terms.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691640"/>
            <a:ext cx="3291840" cy="438912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874520"/>
            <a:ext cx="28346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3. Local Resilience Layer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Local Memory Fallback: If Redis fails, API automatically switches to in-memory JS Map objects.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Database Fallbacks: Launches local mongo-memory-server if Atlas becomes unreachable.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Offline Operational Uptime: Guarantees zero transaction drops in remote areas.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F1D"/>
          </a:solidFill>
          <a:ln>
            <a:solidFill>
              <a:srgbClr val="090F1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2004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al"/>
              </a:defRPr>
            </a:pPr>
            <a:r>
              <a:t>Why Trishastik Bharat is the Unique &amp; Best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320040"/>
            <a:ext cx="28163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100" b="1">
                <a:solidFill>
                  <a:srgbClr val="10B981"/>
                </a:solidFill>
                <a:latin typeface="Arial"/>
              </a:defRPr>
            </a:pPr>
            <a:r>
              <a:t>Trishastik Bharat | IIT BHU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234440"/>
            <a:ext cx="10817352" cy="2743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10817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64748B"/>
                </a:solidFill>
                <a:latin typeface="Arial"/>
              </a:defRPr>
            </a:pPr>
            <a:r>
              <a:t>Presentation on Trishastik Bharat AgriTech Platform | Solving Core Agricultural Inefficiencies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691640"/>
            <a:ext cx="5120640" cy="438912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Core Project Achievements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True Disintermediation: Completely removes middleman margins, increasing farmer payouts by 25%+ directly.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Direct Industrial Partnerships: Connecting mills directly with farms bypasses retail chemical chemical-only marketplaces.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Enforced Public Accountability: Portal integration converts unmonitored free lab tests into audited, timely diagnostic runs.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Auto-Optimized Freight Costs: Least-cost routing algorithm ensures transportation fees are kept to a bare minimum.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82512" y="1691640"/>
            <a:ext cx="5120640" cy="4389120"/>
          </a:xfrm>
          <a:prstGeom prst="roundRect">
            <a:avLst/>
          </a:prstGeom>
          <a:solidFill>
            <a:srgbClr val="152036"/>
          </a:solidFill>
          <a:ln w="19050">
            <a:solidFill>
              <a:srgbClr val="263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11112" y="1874520"/>
            <a:ext cx="4663440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0B981"/>
                </a:solidFill>
                <a:latin typeface="Arial"/>
              </a:defRPr>
            </a:pPr>
            <a:r>
              <a:t>Why Trishastik is Best in Class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Circular AgTech Economy: Unifies seeds, fertilizer, rentals, testing, sales, and logistics in a single cooperative loop.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Asset-Light Operations: Uses peer-to-peer equipment sharing and local transporter networks, requiring zero vehicle capital.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Science-Driven Agriculture: Combines official laboratory tests with Grok AI language diagnostics, making data readable in local terms.</a:t>
            </a:r>
          </a:p>
          <a:p>
            <a:pPr>
              <a:spcAft>
                <a:spcPts val="600"/>
              </a:spcAft>
              <a:defRPr sz="1150">
                <a:solidFill>
                  <a:srgbClr val="E2E8F0"/>
                </a:solidFill>
                <a:latin typeface="Arial"/>
              </a:defRPr>
            </a:pPr>
            <a:r>
              <a:t>• Built for Rural Scaling: Lightweight MERN stack works seamlessly on low-bandwidth rural connections.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